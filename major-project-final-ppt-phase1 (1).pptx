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399" r:id="rId4"/>
    <p:sldId id="400" r:id="rId5"/>
    <p:sldId id="434" r:id="rId6"/>
    <p:sldId id="258" r:id="rId7"/>
    <p:sldId id="259" r:id="rId8"/>
    <p:sldId id="375" r:id="rId9"/>
    <p:sldId id="376" r:id="rId10"/>
    <p:sldId id="396" r:id="rId11"/>
    <p:sldId id="392" r:id="rId12"/>
    <p:sldId id="268" r:id="rId13"/>
    <p:sldId id="430" r:id="rId14"/>
    <p:sldId id="429" r:id="rId15"/>
    <p:sldId id="407" r:id="rId16"/>
    <p:sldId id="431" r:id="rId17"/>
    <p:sldId id="387" r:id="rId18"/>
    <p:sldId id="383" r:id="rId19"/>
    <p:sldId id="290" r:id="rId20"/>
    <p:sldId id="28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5</a:t>
            </a:fld>
            <a:endParaRPr/>
          </a:p>
        </p:txBody>
      </p:sp>
    </p:spTree>
    <p:extLst>
      <p:ext uri="{BB962C8B-B14F-4D97-AF65-F5344CB8AC3E}">
        <p14:creationId xmlns:p14="http://schemas.microsoft.com/office/powerpoint/2010/main" val="787553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pPr>
                <a:lnSpc>
                  <a:spcPct val="100000"/>
                </a:lnSpc>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pPr>
                <a:lnSpc>
                  <a:spcPct val="100000"/>
                </a:lnSpc>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14</a:t>
            </a:fld>
            <a:endParaRPr/>
          </a:p>
        </p:txBody>
      </p:sp>
    </p:spTree>
    <p:extLst>
      <p:ext uri="{BB962C8B-B14F-4D97-AF65-F5344CB8AC3E}">
        <p14:creationId xmlns:p14="http://schemas.microsoft.com/office/powerpoint/2010/main" val="99667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dl.acm.org/doi/abs/10.1145/3494106.3528678" TargetMode="External"/><Relationship Id="rId2" Type="http://schemas.openxmlformats.org/officeDocument/2006/relationships/hyperlink" Target="https://www.irjet.net/archives/V9/i3/IRJET-V9I3312.pdf" TargetMode="External"/><Relationship Id="rId1" Type="http://schemas.openxmlformats.org/officeDocument/2006/relationships/slideLayout" Target="../slideLayouts/slideLayout1.xml"/><Relationship Id="rId4" Type="http://schemas.openxmlformats.org/officeDocument/2006/relationships/hyperlink" Target="../../../../../../../Downloads/THEPREDICTIONOFDISEASEUSINGMACHINELEARNING%20(1).pdf"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9144000" cy="707886"/>
          </a:xfrm>
          <a:prstGeom prst="rect">
            <a:avLst/>
          </a:prstGeom>
          <a:noFill/>
        </p:spPr>
        <p:txBody>
          <a:bodyPr wrap="square" rtlCol="0">
            <a:spAutoFit/>
          </a:bodyPr>
          <a:lstStyle/>
          <a:p>
            <a:pPr algn="ctr"/>
            <a:r>
              <a:rPr lang="en-IN" sz="4000" b="1" dirty="0">
                <a:ln w="1905"/>
                <a:effectLst>
                  <a:innerShdw blurRad="69850" dist="43180" dir="5400000">
                    <a:srgbClr val="000000">
                      <a:alpha val="65000"/>
                    </a:srgbClr>
                  </a:innerShdw>
                </a:effectLst>
              </a:rPr>
              <a:t>ETHMEDIX</a:t>
            </a:r>
            <a:endParaRPr lang="en-US" sz="4000" b="1" dirty="0">
              <a:ln w="1905"/>
              <a:effectLst>
                <a:innerShdw blurRad="69850" dist="43180" dir="5400000">
                  <a:srgbClr val="000000">
                    <a:alpha val="65000"/>
                  </a:srgbClr>
                </a:innerShdw>
              </a:effectLst>
            </a:endParaRPr>
          </a:p>
        </p:txBody>
      </p:sp>
      <p:sp>
        <p:nvSpPr>
          <p:cNvPr id="3" name="TextBox 2"/>
          <p:cNvSpPr txBox="1"/>
          <p:nvPr/>
        </p:nvSpPr>
        <p:spPr>
          <a:xfrm>
            <a:off x="5337175" y="2743200"/>
            <a:ext cx="5029200" cy="1477328"/>
          </a:xfrm>
          <a:prstGeom prst="rect">
            <a:avLst/>
          </a:prstGeom>
          <a:noFill/>
        </p:spPr>
        <p:txBody>
          <a:bodyPr wrap="square" rtlCol="0">
            <a:spAutoFit/>
          </a:bodyPr>
          <a:lstStyle/>
          <a:p>
            <a:r>
              <a:rPr lang="en-US" b="1" dirty="0">
                <a:solidFill>
                  <a:schemeClr val="tx2">
                    <a:lumMod val="75000"/>
                  </a:schemeClr>
                </a:solidFill>
              </a:rPr>
              <a:t>Name of the student:</a:t>
            </a:r>
            <a:endParaRPr lang="en-US" sz="1800" b="1" dirty="0">
              <a:solidFill>
                <a:schemeClr val="tx2">
                  <a:lumMod val="75000"/>
                </a:schemeClr>
              </a:solidFill>
            </a:endParaRPr>
          </a:p>
          <a:p>
            <a:r>
              <a:rPr lang="en-US" sz="1800" b="1" dirty="0">
                <a:solidFill>
                  <a:schemeClr val="tx2">
                    <a:lumMod val="75000"/>
                  </a:schemeClr>
                </a:solidFill>
              </a:rPr>
              <a:t>20H51A05B8-B.Tiryagish </a:t>
            </a:r>
            <a:r>
              <a:rPr lang="en-US" sz="1800" b="1" dirty="0" err="1">
                <a:solidFill>
                  <a:schemeClr val="tx2">
                    <a:lumMod val="75000"/>
                  </a:schemeClr>
                </a:solidFill>
              </a:rPr>
              <a:t>Prayad</a:t>
            </a:r>
            <a:endParaRPr lang="en-US" sz="1800" b="1" dirty="0">
              <a:solidFill>
                <a:schemeClr val="tx2">
                  <a:lumMod val="75000"/>
                </a:schemeClr>
              </a:solidFill>
            </a:endParaRPr>
          </a:p>
          <a:p>
            <a:r>
              <a:rPr lang="en-US" sz="1800" b="1" dirty="0">
                <a:solidFill>
                  <a:schemeClr val="tx2">
                    <a:lumMod val="75000"/>
                  </a:schemeClr>
                </a:solidFill>
              </a:rPr>
              <a:t>20H51A05C0-E.Sidhartha</a:t>
            </a:r>
          </a:p>
          <a:p>
            <a:r>
              <a:rPr lang="en-US" sz="1800" b="1" dirty="0">
                <a:solidFill>
                  <a:schemeClr val="tx2">
                    <a:lumMod val="75000"/>
                  </a:schemeClr>
                </a:solidFill>
              </a:rPr>
              <a:t>20H51A05C1-G.Hardhik</a:t>
            </a:r>
          </a:p>
          <a:p>
            <a:endParaRPr lang="en-US" b="1" dirty="0">
              <a:solidFill>
                <a:schemeClr val="tx2">
                  <a:lumMod val="75000"/>
                </a:schemeClr>
              </a:solidFill>
            </a:endParaRPr>
          </a:p>
        </p:txBody>
      </p:sp>
      <p:sp>
        <p:nvSpPr>
          <p:cNvPr id="4" name="TextBox 3"/>
          <p:cNvSpPr txBox="1"/>
          <p:nvPr/>
        </p:nvSpPr>
        <p:spPr>
          <a:xfrm>
            <a:off x="155575" y="4419600"/>
            <a:ext cx="5181600" cy="1169551"/>
          </a:xfrm>
          <a:prstGeom prst="rect">
            <a:avLst/>
          </a:prstGeom>
          <a:noFill/>
        </p:spPr>
        <p:txBody>
          <a:bodyPr wrap="square" rtlCol="0">
            <a:spAutoFit/>
          </a:bodyPr>
          <a:lstStyle/>
          <a:p>
            <a:pPr marR="64008" lvl="0">
              <a:lnSpc>
                <a:spcPct val="150000"/>
              </a:lnSpc>
              <a:spcBef>
                <a:spcPts val="400"/>
              </a:spcBef>
              <a:buClr>
                <a:schemeClr val="accent1"/>
              </a:buClr>
              <a:buSzPct val="68000"/>
              <a:defRPr/>
            </a:pPr>
            <a:r>
              <a:rPr lang="en-US" sz="2000" b="1" dirty="0">
                <a:solidFill>
                  <a:srgbClr val="C00000"/>
                </a:solidFill>
              </a:rPr>
              <a:t>Under esteemed guidance of</a:t>
            </a:r>
          </a:p>
          <a:p>
            <a:r>
              <a:rPr lang="en-US" sz="2000" b="1" dirty="0"/>
              <a:t>Guide Name:</a:t>
            </a:r>
            <a:r>
              <a:rPr lang="en-IN" sz="2000" b="1" dirty="0" err="1">
                <a:latin typeface="+mj-lt"/>
                <a:ea typeface="Calibri" panose="020F0502020204030204" pitchFamily="34" charset="0"/>
              </a:rPr>
              <a:t>Ms.Archana</a:t>
            </a:r>
            <a:r>
              <a:rPr lang="en-IN" sz="2000" b="1" dirty="0">
                <a:latin typeface="+mj-lt"/>
                <a:ea typeface="Calibri" panose="020F0502020204030204" pitchFamily="34" charset="0"/>
              </a:rPr>
              <a:t> </a:t>
            </a:r>
            <a:r>
              <a:rPr lang="en-IN" sz="2000" b="1" dirty="0" err="1">
                <a:latin typeface="+mj-lt"/>
                <a:ea typeface="Calibri" panose="020F0502020204030204" pitchFamily="34" charset="0"/>
              </a:rPr>
              <a:t>Bathula</a:t>
            </a:r>
            <a:r>
              <a:rPr lang="en-IN" sz="2000" b="1" dirty="0">
                <a:latin typeface="+mj-lt"/>
                <a:ea typeface="Calibri" panose="020F0502020204030204" pitchFamily="34" charset="0"/>
              </a:rPr>
              <a:t> Assistant Professor </a:t>
            </a:r>
            <a:endParaRPr lang="en-US" sz="2000" b="1" dirty="0">
              <a:latin typeface="+mj-lt"/>
            </a:endParaRPr>
          </a:p>
        </p:txBody>
      </p:sp>
      <p:graphicFrame>
        <p:nvGraphicFramePr>
          <p:cNvPr id="5" name="Table 4"/>
          <p:cNvGraphicFramePr>
            <a:graphicFrameLocks noGrp="1"/>
          </p:cNvGraphicFramePr>
          <p:nvPr>
            <p:extLst>
              <p:ext uri="{D42A27DB-BD31-4B8C-83A1-F6EECF244321}">
                <p14:modId xmlns:p14="http://schemas.microsoft.com/office/powerpoint/2010/main" val="379951770"/>
              </p:ext>
            </p:extLst>
          </p:nvPr>
        </p:nvGraphicFramePr>
        <p:xfrm>
          <a:off x="1524000" y="228600"/>
          <a:ext cx="7010400" cy="951198"/>
        </p:xfrm>
        <a:graphic>
          <a:graphicData uri="http://schemas.openxmlformats.org/drawingml/2006/table">
            <a:tbl>
              <a:tblPr>
                <a:tableStyleId>{2D5ABB26-0587-4C30-8999-92F81FD0307C}</a:tableStyleId>
              </a:tblPr>
              <a:tblGrid>
                <a:gridCol w="70104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1524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4DFFA99E-F018-8D26-1DF7-316E0E020E5A}"/>
              </a:ext>
            </a:extLst>
          </p:cNvPr>
          <p:cNvSpPr txBox="1"/>
          <p:nvPr/>
        </p:nvSpPr>
        <p:spPr>
          <a:xfrm>
            <a:off x="337792" y="2743200"/>
            <a:ext cx="5029200" cy="400110"/>
          </a:xfrm>
          <a:prstGeom prst="rect">
            <a:avLst/>
          </a:prstGeom>
          <a:noFill/>
        </p:spPr>
        <p:txBody>
          <a:bodyPr wrap="square" rtlCol="0">
            <a:spAutoFit/>
          </a:bodyPr>
          <a:lstStyle/>
          <a:p>
            <a:r>
              <a:rPr lang="en-US" sz="2000" b="1" dirty="0">
                <a:solidFill>
                  <a:schemeClr val="tx2">
                    <a:lumMod val="75000"/>
                  </a:schemeClr>
                </a:solidFill>
              </a:rPr>
              <a:t>Batch </a:t>
            </a:r>
            <a:r>
              <a:rPr lang="en-US" sz="2000" b="1">
                <a:solidFill>
                  <a:schemeClr val="tx2">
                    <a:lumMod val="75000"/>
                  </a:schemeClr>
                </a:solidFill>
              </a:rPr>
              <a:t>No.:5</a:t>
            </a:r>
            <a:endParaRPr lang="en-US" sz="2000" b="1" dirty="0">
              <a:solidFill>
                <a:schemeClr val="tx2">
                  <a:lumMod val="75000"/>
                </a:schemeClr>
              </a:solidFill>
            </a:endParaRPr>
          </a:p>
        </p:txBody>
      </p:sp>
      <p:sp>
        <p:nvSpPr>
          <p:cNvPr id="7" name="TextBox 6">
            <a:extLst>
              <a:ext uri="{FF2B5EF4-FFF2-40B4-BE49-F238E27FC236}">
                <a16:creationId xmlns:a16="http://schemas.microsoft.com/office/drawing/2014/main" id="{94997AF8-6B6E-040B-FF07-B099985FAFAE}"/>
              </a:ext>
            </a:extLst>
          </p:cNvPr>
          <p:cNvSpPr txBox="1"/>
          <p:nvPr/>
        </p:nvSpPr>
        <p:spPr>
          <a:xfrm>
            <a:off x="238539" y="6229290"/>
            <a:ext cx="8753061" cy="307777"/>
          </a:xfrm>
          <a:prstGeom prst="rect">
            <a:avLst/>
          </a:prstGeom>
          <a:noFill/>
        </p:spPr>
        <p:txBody>
          <a:bodyPr wrap="square" rtlCol="0">
            <a:spAutoFit/>
          </a:bodyPr>
          <a:lstStyle/>
          <a:p>
            <a:r>
              <a:rPr lang="en-US" sz="1400" b="1" dirty="0">
                <a:solidFill>
                  <a:schemeClr val="tx2">
                    <a:lumMod val="75000"/>
                  </a:schemeClr>
                </a:solidFill>
              </a:rPr>
              <a:t>Batch: 2020-2024 			                                                             Major Project Phase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Outline</a:t>
            </a:r>
            <a:endParaRPr>
              <a:solidFill>
                <a:srgbClr val="C00000"/>
              </a:solidFill>
            </a:endParaRPr>
          </a:p>
        </p:txBody>
      </p:sp>
      <p:sp>
        <p:nvSpPr>
          <p:cNvPr id="45" name="CustomShape 3"/>
          <p:cNvSpPr/>
          <p:nvPr/>
        </p:nvSpPr>
        <p:spPr>
          <a:xfrm>
            <a:off x="914400" y="1639740"/>
            <a:ext cx="6477000" cy="4456260"/>
          </a:xfrm>
          <a:prstGeom prst="rect">
            <a:avLst/>
          </a:prstGeom>
        </p:spPr>
        <p:txBody>
          <a:bodyPr lIns="90000" tIns="45000" rIns="90000" bIns="45000"/>
          <a:lstStyle/>
          <a:p>
            <a:pPr>
              <a:lnSpc>
                <a:spcPct val="150000"/>
              </a:lnSpc>
              <a:buFont typeface="Arial" pitchFamily="34" charset="0"/>
              <a:buChar char="•"/>
            </a:pPr>
            <a:r>
              <a:rPr lang="en-IN" sz="2000" b="1" dirty="0">
                <a:solidFill>
                  <a:srgbClr val="000000"/>
                </a:solidFill>
                <a:latin typeface="Bookman Old Style" pitchFamily="18" charset="0"/>
              </a:rPr>
              <a:t> Abstract </a:t>
            </a:r>
          </a:p>
          <a:p>
            <a:pPr>
              <a:lnSpc>
                <a:spcPct val="150000"/>
              </a:lnSpc>
              <a:buFont typeface="Arial" pitchFamily="34" charset="0"/>
              <a:buChar char="•"/>
            </a:pPr>
            <a:r>
              <a:rPr lang="en-IN" sz="2000" b="1" dirty="0">
                <a:solidFill>
                  <a:srgbClr val="000000"/>
                </a:solidFill>
                <a:latin typeface="Bookman Old Style" pitchFamily="18" charset="0"/>
              </a:rPr>
              <a:t> Introduction </a:t>
            </a:r>
          </a:p>
          <a:p>
            <a:pPr>
              <a:lnSpc>
                <a:spcPct val="150000"/>
              </a:lnSpc>
              <a:buFont typeface="Arial"/>
              <a:buChar char="•"/>
            </a:pPr>
            <a:r>
              <a:rPr lang="en-IN" sz="2000" b="1" dirty="0">
                <a:solidFill>
                  <a:srgbClr val="000000"/>
                </a:solidFill>
                <a:latin typeface="Bookman Old Style" pitchFamily="18" charset="0"/>
              </a:rPr>
              <a:t> Research Objective </a:t>
            </a:r>
          </a:p>
          <a:p>
            <a:pPr>
              <a:lnSpc>
                <a:spcPct val="150000"/>
              </a:lnSpc>
              <a:buFont typeface="Arial" pitchFamily="34" charset="0"/>
              <a:buChar char="•"/>
            </a:pPr>
            <a:r>
              <a:rPr lang="en-IN" sz="2000" b="1" dirty="0">
                <a:solidFill>
                  <a:srgbClr val="000000"/>
                </a:solidFill>
                <a:latin typeface="Bookman Old Style" pitchFamily="18" charset="0"/>
              </a:rPr>
              <a:t> Problem Definition</a:t>
            </a:r>
          </a:p>
          <a:p>
            <a:pPr>
              <a:lnSpc>
                <a:spcPct val="150000"/>
              </a:lnSpc>
              <a:buFont typeface="Arial" pitchFamily="34" charset="0"/>
              <a:buChar char="•"/>
            </a:pPr>
            <a:r>
              <a:rPr lang="en-IN" sz="2000" b="1" dirty="0">
                <a:solidFill>
                  <a:srgbClr val="000000"/>
                </a:solidFill>
                <a:latin typeface="Bookman Old Style" pitchFamily="18" charset="0"/>
              </a:rPr>
              <a:t> Scope of the Project</a:t>
            </a:r>
          </a:p>
          <a:p>
            <a:pPr>
              <a:lnSpc>
                <a:spcPct val="150000"/>
              </a:lnSpc>
              <a:buFont typeface="Arial" pitchFamily="34" charset="0"/>
              <a:buChar char="•"/>
            </a:pPr>
            <a:r>
              <a:rPr lang="en-IN" sz="2000" b="1" dirty="0">
                <a:solidFill>
                  <a:srgbClr val="000000"/>
                </a:solidFill>
                <a:latin typeface="Bookman Old Style" pitchFamily="18" charset="0"/>
              </a:rPr>
              <a:t> Literature Review</a:t>
            </a:r>
          </a:p>
          <a:p>
            <a:pPr>
              <a:lnSpc>
                <a:spcPct val="150000"/>
              </a:lnSpc>
              <a:buFont typeface="Arial" pitchFamily="34" charset="0"/>
              <a:buChar char="•"/>
            </a:pPr>
            <a:r>
              <a:rPr lang="en-IN" sz="2000" b="1" dirty="0">
                <a:solidFill>
                  <a:srgbClr val="000000"/>
                </a:solidFill>
                <a:latin typeface="Bookman Old Style" pitchFamily="18" charset="0"/>
              </a:rPr>
              <a:t> Implementation of Existing system</a:t>
            </a:r>
          </a:p>
          <a:p>
            <a:pPr>
              <a:lnSpc>
                <a:spcPct val="150000"/>
              </a:lnSpc>
              <a:buFont typeface="Arial" pitchFamily="34" charset="0"/>
              <a:buChar char="•"/>
            </a:pPr>
            <a:r>
              <a:rPr lang="en-IN" sz="2000" b="1" dirty="0">
                <a:solidFill>
                  <a:srgbClr val="000000"/>
                </a:solidFill>
                <a:latin typeface="Bookman Old Style" pitchFamily="18" charset="0"/>
              </a:rPr>
              <a:t> Conclusion</a:t>
            </a:r>
          </a:p>
          <a:p>
            <a:pPr>
              <a:lnSpc>
                <a:spcPct val="150000"/>
              </a:lnSpc>
              <a:buFont typeface="Arial" pitchFamily="34" charset="0"/>
              <a:buChar char="•"/>
            </a:pPr>
            <a:r>
              <a:rPr lang="en-IN" sz="2000" b="1" dirty="0">
                <a:solidFill>
                  <a:srgbClr val="000000"/>
                </a:solidFill>
                <a:latin typeface="Bookman Old Style" pitchFamily="18" charset="0"/>
              </a:rPr>
              <a:t> References</a:t>
            </a:r>
            <a:r>
              <a:rPr lang="en-IN" sz="2800" b="1" dirty="0">
                <a:solidFill>
                  <a:srgbClr val="000000"/>
                </a:solidFill>
                <a:latin typeface="Calibri"/>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Abstract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457200" y="514682"/>
            <a:ext cx="3657600" cy="584775"/>
          </a:xfrm>
          <a:prstGeom prst="rect">
            <a:avLst/>
          </a:prstGeom>
          <a:noFill/>
        </p:spPr>
        <p:txBody>
          <a:bodyPr wrap="square" rtlCol="0">
            <a:spAutoFit/>
          </a:bodyPr>
          <a:lstStyle/>
          <a:p>
            <a:r>
              <a:rPr lang="en-US" sz="3200" b="1" dirty="0">
                <a:solidFill>
                  <a:srgbClr val="C00000"/>
                </a:solidFill>
                <a:latin typeface="Calibri" pitchFamily="34" charset="0"/>
              </a:rPr>
              <a:t>ABSTRACT</a:t>
            </a:r>
          </a:p>
        </p:txBody>
      </p:sp>
      <p:sp>
        <p:nvSpPr>
          <p:cNvPr id="3" name="TextBox 2">
            <a:extLst>
              <a:ext uri="{FF2B5EF4-FFF2-40B4-BE49-F238E27FC236}">
                <a16:creationId xmlns:a16="http://schemas.microsoft.com/office/drawing/2014/main" id="{C973B587-F6BD-30E8-D0C3-14CC45CC7C52}"/>
              </a:ext>
            </a:extLst>
          </p:cNvPr>
          <p:cNvSpPr txBox="1"/>
          <p:nvPr/>
        </p:nvSpPr>
        <p:spPr>
          <a:xfrm>
            <a:off x="228600" y="1371600"/>
            <a:ext cx="8381160" cy="4632037"/>
          </a:xfrm>
          <a:prstGeom prst="rect">
            <a:avLst/>
          </a:prstGeom>
          <a:noFill/>
        </p:spPr>
        <p:txBody>
          <a:bodyPr wrap="square">
            <a:spAutoFit/>
          </a:bodyPr>
          <a:lstStyle/>
          <a:p>
            <a:pPr marL="285750" indent="-285750" algn="just">
              <a:spcAft>
                <a:spcPts val="1000"/>
              </a:spcAf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 this project, we are going to develop a cutting-edge Decentralized Hospital Records and Images Sharing Platform on the Blockchain, which will be integrated with IPFS , and feature an AI-driven Feedback . The primary objective of this project is to address the pressing need for secure and efficient patient data and medical image sharing in the medical field.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000"/>
              </a:spcAf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platform will leverage the power of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InterPlanetary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File System (IPFS) in conjunction with blockchain technology to ensure the highest level of security and tamper-proof storage for medical records and images.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000"/>
              </a:spcAf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For a seamless and user-friendly experience, we will develop a responsive frontend built with React JS , Web3.js and other tools. The intuitive interface will facilitate easy access and management of medical records for all authorized users.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000"/>
              </a:spcAft>
              <a:buFont typeface="Wingdings" panose="05000000000000000000" pitchFamily="2" charset="2"/>
              <a:buChar char="§"/>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platform's security and transparency will be further reinforced by implementing smart contracts written in Solidity. These smart contracts will provide an effective and secure way to share medical records among authorized  accounts, granting them ownership and access permissions as required.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endParaRPr dirty="0">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
        <p:nvSpPr>
          <p:cNvPr id="3" name="TextBox 2">
            <a:extLst>
              <a:ext uri="{FF2B5EF4-FFF2-40B4-BE49-F238E27FC236}">
                <a16:creationId xmlns:a16="http://schemas.microsoft.com/office/drawing/2014/main" id="{57255375-EADB-A6F2-EC57-4E3E542FBD99}"/>
              </a:ext>
            </a:extLst>
          </p:cNvPr>
          <p:cNvSpPr txBox="1"/>
          <p:nvPr/>
        </p:nvSpPr>
        <p:spPr>
          <a:xfrm>
            <a:off x="457200" y="1219200"/>
            <a:ext cx="8229600" cy="3118803"/>
          </a:xfrm>
          <a:prstGeom prst="rect">
            <a:avLst/>
          </a:prstGeom>
          <a:noFill/>
        </p:spPr>
        <p:txBody>
          <a:bodyPr wrap="square">
            <a:spAutoFit/>
          </a:bodyPr>
          <a:lstStyle/>
          <a:p>
            <a:pPr marL="285750" indent="-285750" algn="just">
              <a:spcAft>
                <a:spcPts val="1000"/>
              </a:spcAft>
              <a:buFont typeface="Wingdings" panose="05000000000000000000" pitchFamily="2" charset="2"/>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Additionally, to foster improved patient care and outcomes, we will integrate AI feedback section into the platform. Patients and doctors can submit their valuable feedback, which will then be securely stored in smart contracts for further tracking and analysis.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000"/>
              </a:spcAft>
              <a:buFont typeface="Wingdings" panose="05000000000000000000" pitchFamily="2" charset="2"/>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This AI-driven system will offer valuable suggestions, insights, and clarifications on medical issues, thereby contributing to better decision-making and healthcare management.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spcAft>
                <a:spcPts val="1000"/>
              </a:spcAft>
              <a:buFont typeface="Wingdings" panose="05000000000000000000" pitchFamily="2" charset="2"/>
              <a:buChar char="§"/>
            </a:pPr>
            <a:r>
              <a:rPr lang="en-IN" dirty="0">
                <a:effectLst/>
                <a:latin typeface="Times New Roman" panose="02020603050405020304" pitchFamily="18" charset="0"/>
                <a:ea typeface="Calibri" panose="020F0502020204030204" pitchFamily="34" charset="0"/>
                <a:cs typeface="Times New Roman" panose="02020603050405020304" pitchFamily="18" charset="0"/>
              </a:rPr>
              <a:t>For secure interactions with smart contracts and authorized data sharing, hospitals, patients, and doctors will need to have a MetaMask wallet or a similar blockchain wallet.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A90E27D6-95CF-70AD-DD08-0FECDD8F53F1}"/>
              </a:ext>
            </a:extLst>
          </p:cNvPr>
          <p:cNvSpPr txBox="1"/>
          <p:nvPr/>
        </p:nvSpPr>
        <p:spPr>
          <a:xfrm>
            <a:off x="609600" y="375364"/>
            <a:ext cx="4572000" cy="584775"/>
          </a:xfrm>
          <a:prstGeom prst="rect">
            <a:avLst/>
          </a:prstGeom>
          <a:noFill/>
        </p:spPr>
        <p:txBody>
          <a:bodyPr wrap="square">
            <a:spAutoFit/>
          </a:bodyPr>
          <a:lstStyle/>
          <a:p>
            <a:r>
              <a:rPr lang="en-US" sz="3200" b="1" dirty="0">
                <a:solidFill>
                  <a:srgbClr val="C00000"/>
                </a:solidFill>
                <a:latin typeface="Calibri" pitchFamily="34" charset="0"/>
              </a:rPr>
              <a:t>ABSTRACT</a:t>
            </a:r>
          </a:p>
        </p:txBody>
      </p:sp>
      <p:sp>
        <p:nvSpPr>
          <p:cNvPr id="8" name="CustomShape 1">
            <a:extLst>
              <a:ext uri="{FF2B5EF4-FFF2-40B4-BE49-F238E27FC236}">
                <a16:creationId xmlns:a16="http://schemas.microsoft.com/office/drawing/2014/main" id="{CBD6DF65-872E-C65B-6840-7AC345827F8D}"/>
              </a:ext>
            </a:extLst>
          </p:cNvPr>
          <p:cNvSpPr/>
          <p:nvPr/>
        </p:nvSpPr>
        <p:spPr>
          <a:xfrm>
            <a:off x="609600" y="960139"/>
            <a:ext cx="8381160" cy="75600"/>
          </a:xfrm>
          <a:prstGeom prst="rect">
            <a:avLst/>
          </a:prstGeom>
          <a:solidFill>
            <a:srgbClr val="7030A0"/>
          </a:solidFill>
          <a:ln w="25560">
            <a:solidFill>
              <a:srgbClr val="3A5F8B"/>
            </a:solidFill>
            <a:round/>
          </a:ln>
        </p:spPr>
        <p:txBody>
          <a:bodyPr/>
          <a:lstStyle/>
          <a:p>
            <a:endParaRPr lang="en-IN"/>
          </a:p>
        </p:txBody>
      </p:sp>
    </p:spTree>
    <p:extLst>
      <p:ext uri="{BB962C8B-B14F-4D97-AF65-F5344CB8AC3E}">
        <p14:creationId xmlns:p14="http://schemas.microsoft.com/office/powerpoint/2010/main" val="2930437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228600" y="4267200"/>
            <a:ext cx="8381520" cy="75480"/>
          </a:xfrm>
          <a:prstGeom prst="rect">
            <a:avLst/>
          </a:prstGeom>
          <a:solidFill>
            <a:srgbClr val="7030A0"/>
          </a:solidFill>
          <a:ln w="25560">
            <a:solidFill>
              <a:srgbClr val="3A5F8B"/>
            </a:solidFill>
            <a:round/>
          </a:ln>
        </p:spPr>
        <p:txBody>
          <a:bodyPr/>
          <a:lstStyle/>
          <a:p>
            <a:endParaRPr lang="en-IN"/>
          </a:p>
        </p:txBody>
      </p:sp>
      <p:sp>
        <p:nvSpPr>
          <p:cNvPr id="47" name="CustomShape 2"/>
          <p:cNvSpPr/>
          <p:nvPr/>
        </p:nvSpPr>
        <p:spPr>
          <a:xfrm>
            <a:off x="-914400" y="3429000"/>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a:rPr>
              <a:t>I</a:t>
            </a:r>
            <a:r>
              <a:rPr lang="en-IN" sz="3200" b="1" dirty="0">
                <a:solidFill>
                  <a:srgbClr val="000000"/>
                </a:solidFill>
                <a:latin typeface="Arial Black"/>
              </a:rPr>
              <a:t>NTRODUCTION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rPr>
              <a:t>Introduction</a:t>
            </a:r>
            <a:endParaRPr dirty="0">
              <a:solidFill>
                <a:srgbClr val="C00000"/>
              </a:solidFill>
            </a:endParaRPr>
          </a:p>
        </p:txBody>
      </p:sp>
      <p:sp>
        <p:nvSpPr>
          <p:cNvPr id="5" name="TextBox 4"/>
          <p:cNvSpPr txBox="1"/>
          <p:nvPr/>
        </p:nvSpPr>
        <p:spPr>
          <a:xfrm>
            <a:off x="457200" y="1143000"/>
            <a:ext cx="9274629" cy="2535566"/>
          </a:xfrm>
          <a:prstGeom prst="rect">
            <a:avLst/>
          </a:prstGeom>
          <a:noFill/>
        </p:spPr>
        <p:txBody>
          <a:bodyPr wrap="square" rtlCol="0">
            <a:spAutoFit/>
          </a:bodyPr>
          <a:lstStyle/>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 Data distribution across nodes for redundancy and scalability.</a:t>
            </a:r>
          </a:p>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 Strengthening security protocols and controls to protect sensitive data.</a:t>
            </a:r>
          </a:p>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 Improved communication tools for patients and healthcare providers.</a:t>
            </a:r>
          </a:p>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 Organized and efficient medical records management.</a:t>
            </a:r>
          </a:p>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 Mechanism for patients to provide feedback and interact with providers.</a:t>
            </a:r>
          </a:p>
          <a:p>
            <a:pPr marL="285750" marR="962025" indent="-285750" algn="just">
              <a:lnSpc>
                <a:spcPct val="150000"/>
              </a:lnSpc>
              <a:buFont typeface="Wingdings" panose="05000000000000000000" pitchFamily="2" charset="2"/>
              <a:buChar char="Ø"/>
            </a:pPr>
            <a:r>
              <a:rPr lang="en-US" dirty="0">
                <a:effectLst/>
                <a:latin typeface="Times New Roman" panose="02020603050405020304" pitchFamily="18" charset="0"/>
                <a:ea typeface="Times New Roman" panose="02020603050405020304" pitchFamily="18" charset="0"/>
              </a:rPr>
              <a:t>Enhancing the accuracy of diagnostic programs for better treatment decisions.</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pitchFamily="34" charset="0"/>
              </a:rPr>
              <a:t>Research Objective </a:t>
            </a:r>
          </a:p>
          <a:p>
            <a:pPr algn="r">
              <a:lnSpc>
                <a:spcPct val="100000"/>
              </a:lnSpc>
            </a:pPr>
            <a:r>
              <a:rPr lang="en-IN" sz="4400" b="1" dirty="0">
                <a:solidFill>
                  <a:srgbClr val="000000"/>
                </a:solidFill>
                <a:latin typeface="Arial Black" pitchFamily="34" charset="0"/>
              </a:rPr>
              <a: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317212"/>
            <a:ext cx="4648200" cy="584775"/>
          </a:xfrm>
          <a:prstGeom prst="rect">
            <a:avLst/>
          </a:prstGeom>
          <a:noFill/>
        </p:spPr>
        <p:txBody>
          <a:bodyPr wrap="square" rtlCol="0">
            <a:spAutoFit/>
          </a:bodyPr>
          <a:lstStyle/>
          <a:p>
            <a:r>
              <a:rPr lang="en-US" sz="3200" b="1" dirty="0">
                <a:solidFill>
                  <a:srgbClr val="C00000"/>
                </a:solidFill>
                <a:latin typeface="+mj-lt"/>
              </a:rPr>
              <a:t>Research objective</a:t>
            </a:r>
          </a:p>
        </p:txBody>
      </p:sp>
      <p:sp>
        <p:nvSpPr>
          <p:cNvPr id="3" name="TextBox 2">
            <a:extLst>
              <a:ext uri="{FF2B5EF4-FFF2-40B4-BE49-F238E27FC236}">
                <a16:creationId xmlns:a16="http://schemas.microsoft.com/office/drawing/2014/main" id="{B2B63E75-1A8A-7A17-BF89-A54D8E0C6128}"/>
              </a:ext>
            </a:extLst>
          </p:cNvPr>
          <p:cNvSpPr txBox="1"/>
          <p:nvPr/>
        </p:nvSpPr>
        <p:spPr>
          <a:xfrm>
            <a:off x="261467" y="1524000"/>
            <a:ext cx="8621066" cy="3970318"/>
          </a:xfrm>
          <a:prstGeom prst="rect">
            <a:avLst/>
          </a:prstGeom>
          <a:noFill/>
        </p:spPr>
        <p:txBody>
          <a:bodyPr wrap="square">
            <a:spAutoFit/>
          </a:bodyPr>
          <a:lstStyle/>
          <a:p>
            <a:pPr marL="285750" indent="-285750" algn="just">
              <a:spcBef>
                <a:spcPts val="45"/>
              </a:spcBef>
              <a:buFont typeface="Wingdings" panose="05000000000000000000" pitchFamily="2" charset="2"/>
              <a:buChar char="Ø"/>
            </a:pPr>
            <a:endParaRPr lang="en-IN" sz="1800" dirty="0">
              <a:effectLst/>
              <a:latin typeface="Times New Roman" panose="02020603050405020304" pitchFamily="18" charset="0"/>
              <a:ea typeface="Times New Roman" panose="02020603050405020304" pitchFamily="18" charset="0"/>
            </a:endParaRPr>
          </a:p>
          <a:p>
            <a:pPr marL="285750" indent="-285750" algn="just">
              <a:spcBef>
                <a:spcPts val="45"/>
              </a:spcBef>
              <a:buFont typeface="Wingdings" panose="05000000000000000000" pitchFamily="2" charset="2"/>
              <a:buChar char="Ø"/>
            </a:pPr>
            <a:r>
              <a:rPr lang="en-IN" sz="1800" b="1" dirty="0">
                <a:effectLst/>
                <a:latin typeface="Times New Roman" panose="02020603050405020304" pitchFamily="18" charset="0"/>
                <a:ea typeface="Times New Roman" panose="02020603050405020304" pitchFamily="18" charset="0"/>
              </a:rPr>
              <a:t>Exploration of Technological Requirements:</a:t>
            </a:r>
            <a:r>
              <a:rPr lang="en-IN" sz="1800" dirty="0">
                <a:effectLst/>
                <a:latin typeface="Times New Roman" panose="02020603050405020304" pitchFamily="18" charset="0"/>
                <a:ea typeface="Times New Roman" panose="02020603050405020304" pitchFamily="18" charset="0"/>
              </a:rPr>
              <a:t> Investigate the essential technological components and functionalities necessary to ensure the secure, efficient, and tamper-resistant sharing of patient data and medical images within the healthcare sector, leveraging IPFS and blockchain technology.</a:t>
            </a:r>
          </a:p>
          <a:p>
            <a:pPr marL="285750" indent="-285750" algn="just">
              <a:spcBef>
                <a:spcPts val="45"/>
              </a:spcBef>
              <a:buFont typeface="Wingdings" panose="05000000000000000000" pitchFamily="2" charset="2"/>
              <a:buChar char="Ø"/>
            </a:pPr>
            <a:r>
              <a:rPr lang="en-IN" sz="1800" b="1" dirty="0">
                <a:effectLst/>
                <a:latin typeface="Times New Roman" panose="02020603050405020304" pitchFamily="18" charset="0"/>
                <a:ea typeface="Times New Roman" panose="02020603050405020304" pitchFamily="18" charset="0"/>
              </a:rPr>
              <a:t>Enhancing User Experience and Interface:</a:t>
            </a:r>
            <a:r>
              <a:rPr lang="en-IN" sz="1800" dirty="0">
                <a:effectLst/>
                <a:latin typeface="Times New Roman" panose="02020603050405020304" pitchFamily="18" charset="0"/>
                <a:ea typeface="Times New Roman" panose="02020603050405020304" pitchFamily="18" charset="0"/>
              </a:rPr>
              <a:t> Examine the design and development of a user-friendly and responsive front-end interface, utilizing tools such as React JS and Web3.js, to facilitate easy accessibility and management of medical records for all authorized users, including patients, physicians, and healthcare organizations.</a:t>
            </a:r>
          </a:p>
          <a:p>
            <a:pPr marL="285750" indent="-285750" algn="just">
              <a:spcBef>
                <a:spcPts val="45"/>
              </a:spcBef>
              <a:buFont typeface="Wingdings" panose="05000000000000000000" pitchFamily="2" charset="2"/>
              <a:buChar char="Ø"/>
            </a:pPr>
            <a:r>
              <a:rPr lang="en-IN" sz="1800" b="1" dirty="0">
                <a:effectLst/>
                <a:latin typeface="Times New Roman" panose="02020603050405020304" pitchFamily="18" charset="0"/>
                <a:ea typeface="Times New Roman" panose="02020603050405020304" pitchFamily="18" charset="0"/>
              </a:rPr>
              <a:t>Smart Contract Architecture and Implementation:</a:t>
            </a:r>
            <a:r>
              <a:rPr lang="en-IN" sz="1800" dirty="0">
                <a:effectLst/>
                <a:latin typeface="Times New Roman" panose="02020603050405020304" pitchFamily="18" charset="0"/>
                <a:ea typeface="Times New Roman" panose="02020603050405020304" pitchFamily="18" charset="0"/>
              </a:rPr>
              <a:t> </a:t>
            </a:r>
            <a:r>
              <a:rPr lang="en-IN" sz="1800" dirty="0" err="1">
                <a:effectLst/>
                <a:latin typeface="Times New Roman" panose="02020603050405020304" pitchFamily="18" charset="0"/>
                <a:ea typeface="Times New Roman" panose="02020603050405020304" pitchFamily="18" charset="0"/>
              </a:rPr>
              <a:t>Analyze</a:t>
            </a:r>
            <a:r>
              <a:rPr lang="en-IN" sz="1800" dirty="0">
                <a:effectLst/>
                <a:latin typeface="Times New Roman" panose="02020603050405020304" pitchFamily="18" charset="0"/>
                <a:ea typeface="Times New Roman" panose="02020603050405020304" pitchFamily="18" charset="0"/>
              </a:rPr>
              <a:t> the architecture and implementation of smart contracts using Solidity to establish a practical and secure approach for sharing medical records while maintaining transparency and adherence to ownership and access rights.</a:t>
            </a:r>
          </a:p>
          <a:p>
            <a:pPr marL="285750" indent="-285750" algn="just">
              <a:spcBef>
                <a:spcPts val="45"/>
              </a:spcBef>
              <a:buFont typeface="Wingdings" panose="05000000000000000000" pitchFamily="2" charset="2"/>
              <a:buChar char="Ø"/>
            </a:pPr>
            <a:endParaRPr lang="en-IN"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Problem Definition </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itchFamily="34" charset="0"/>
              </a:rPr>
              <a:t>Problem Definition</a:t>
            </a:r>
          </a:p>
        </p:txBody>
      </p:sp>
      <p:sp>
        <p:nvSpPr>
          <p:cNvPr id="5" name="TextBox 4">
            <a:extLst>
              <a:ext uri="{FF2B5EF4-FFF2-40B4-BE49-F238E27FC236}">
                <a16:creationId xmlns:a16="http://schemas.microsoft.com/office/drawing/2014/main" id="{48619BC6-0AED-5AEF-F9B0-58D2645E1B15}"/>
              </a:ext>
            </a:extLst>
          </p:cNvPr>
          <p:cNvSpPr txBox="1"/>
          <p:nvPr/>
        </p:nvSpPr>
        <p:spPr>
          <a:xfrm>
            <a:off x="76200" y="1295400"/>
            <a:ext cx="8762160" cy="4613058"/>
          </a:xfrm>
          <a:prstGeom prst="rect">
            <a:avLst/>
          </a:prstGeom>
          <a:noFill/>
        </p:spPr>
        <p:txBody>
          <a:bodyPr wrap="square">
            <a:spAutoFit/>
          </a:bodyPr>
          <a:lstStyle/>
          <a:p>
            <a:pPr marL="46609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The healthcare system is facing various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problems.Data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is stored in a way that makes it hard to ensure its safety and use it efficiently. Security measures to protect sensitive information are not strong enough. </a:t>
            </a:r>
          </a:p>
          <a:p>
            <a:pPr marL="46609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Patients and healthcare providers struggle to communicate effectively due to the lack of proper tools, which affects the quality of healthcare. Medical records are disorganized, making it difficult to access patient histories and keep data accurate. </a:t>
            </a:r>
          </a:p>
          <a:p>
            <a:pPr marL="46609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Patients also have no easy way to give feedback or interact with their healthcare providers, causing dissatisfaction and communication problems and the computer programs used to diagnose illnesses are not always right, leading to mistakes in treatment. This issue might be improved by using Artificial Intelligence and Machine Learning.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a:rPr>
              <a:t>Scope of the Project</a:t>
            </a:r>
            <a:endParaRPr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303961" y="1066800"/>
            <a:ext cx="8534400" cy="75599"/>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4267200" cy="523220"/>
          </a:xfrm>
          <a:prstGeom prst="rect">
            <a:avLst/>
          </a:prstGeom>
          <a:noFill/>
        </p:spPr>
        <p:txBody>
          <a:bodyPr wrap="square" rtlCol="0">
            <a:spAutoFit/>
          </a:bodyPr>
          <a:lstStyle/>
          <a:p>
            <a:pPr algn="r">
              <a:lnSpc>
                <a:spcPct val="100000"/>
              </a:lnSpc>
            </a:pPr>
            <a:r>
              <a:rPr lang="en-IN" sz="2800" b="1" dirty="0">
                <a:solidFill>
                  <a:srgbClr val="FF0000"/>
                </a:solidFill>
                <a:latin typeface="+mj-lt"/>
              </a:rPr>
              <a:t>Scope of the Project</a:t>
            </a:r>
            <a:endParaRPr lang="en-IN" sz="2800" dirty="0">
              <a:solidFill>
                <a:srgbClr val="FF0000"/>
              </a:solidFill>
              <a:latin typeface="+mj-lt"/>
            </a:endParaRPr>
          </a:p>
        </p:txBody>
      </p:sp>
      <p:sp>
        <p:nvSpPr>
          <p:cNvPr id="5" name="TextBox 4">
            <a:extLst>
              <a:ext uri="{FF2B5EF4-FFF2-40B4-BE49-F238E27FC236}">
                <a16:creationId xmlns:a16="http://schemas.microsoft.com/office/drawing/2014/main" id="{9E9B3EA8-DE9E-5AC3-BCA3-490CED999027}"/>
              </a:ext>
            </a:extLst>
          </p:cNvPr>
          <p:cNvSpPr txBox="1"/>
          <p:nvPr/>
        </p:nvSpPr>
        <p:spPr>
          <a:xfrm>
            <a:off x="228600" y="1142400"/>
            <a:ext cx="8763000"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AI aids in disease diagnosis using medical data and patterns.</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It provides doctors with a sorted list of potential ailments.</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Healthcare professionals input patient symptoms for AI analysis.</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Emphasizes the importance of human expertise in validating diagnoses.</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Ethical concerns include data privacy and bias mitigation.</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AI is a supportive tool, not a replacement, in healthcare.</a:t>
            </a:r>
          </a:p>
          <a:p>
            <a:pPr marL="285750" indent="-28575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Continuous attention to ethical issues such as transparency and accountability is crucial for responsible AI integration.</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89659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US" sz="2800" b="1" dirty="0"/>
              <a:t>Literature Review</a:t>
            </a:r>
            <a:endParaRPr sz="2800" b="1"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extLst>
      <p:ext uri="{BB962C8B-B14F-4D97-AF65-F5344CB8AC3E}">
        <p14:creationId xmlns:p14="http://schemas.microsoft.com/office/powerpoint/2010/main" val="4277705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2300678644"/>
              </p:ext>
            </p:extLst>
          </p:nvPr>
        </p:nvGraphicFramePr>
        <p:xfrm>
          <a:off x="261730" y="609600"/>
          <a:ext cx="8620539" cy="6092663"/>
        </p:xfrm>
        <a:graphic>
          <a:graphicData uri="http://schemas.openxmlformats.org/drawingml/2006/table">
            <a:tbl>
              <a:tblPr firstRow="1" bandRow="1">
                <a:tableStyleId>{5C22544A-7EE6-4342-B048-85BDC9FD1C3A}</a:tableStyleId>
              </a:tblPr>
              <a:tblGrid>
                <a:gridCol w="556164">
                  <a:extLst>
                    <a:ext uri="{9D8B030D-6E8A-4147-A177-3AD203B41FA5}">
                      <a16:colId xmlns:a16="http://schemas.microsoft.com/office/drawing/2014/main" val="432745929"/>
                    </a:ext>
                  </a:extLst>
                </a:gridCol>
                <a:gridCol w="1082234">
                  <a:extLst>
                    <a:ext uri="{9D8B030D-6E8A-4147-A177-3AD203B41FA5}">
                      <a16:colId xmlns:a16="http://schemas.microsoft.com/office/drawing/2014/main" val="1998233565"/>
                    </a:ext>
                  </a:extLst>
                </a:gridCol>
                <a:gridCol w="1080533">
                  <a:extLst>
                    <a:ext uri="{9D8B030D-6E8A-4147-A177-3AD203B41FA5}">
                      <a16:colId xmlns:a16="http://schemas.microsoft.com/office/drawing/2014/main" val="3760181125"/>
                    </a:ext>
                  </a:extLst>
                </a:gridCol>
                <a:gridCol w="1809831">
                  <a:extLst>
                    <a:ext uri="{9D8B030D-6E8A-4147-A177-3AD203B41FA5}">
                      <a16:colId xmlns:a16="http://schemas.microsoft.com/office/drawing/2014/main" val="1470764825"/>
                    </a:ext>
                  </a:extLst>
                </a:gridCol>
                <a:gridCol w="1915995">
                  <a:extLst>
                    <a:ext uri="{9D8B030D-6E8A-4147-A177-3AD203B41FA5}">
                      <a16:colId xmlns:a16="http://schemas.microsoft.com/office/drawing/2014/main" val="3423994347"/>
                    </a:ext>
                  </a:extLst>
                </a:gridCol>
                <a:gridCol w="2175782">
                  <a:extLst>
                    <a:ext uri="{9D8B030D-6E8A-4147-A177-3AD203B41FA5}">
                      <a16:colId xmlns:a16="http://schemas.microsoft.com/office/drawing/2014/main" val="635663868"/>
                    </a:ext>
                  </a:extLst>
                </a:gridCol>
              </a:tblGrid>
              <a:tr h="1093480">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885462">
                <a:tc>
                  <a:txBody>
                    <a:bodyPr/>
                    <a:lstStyle/>
                    <a:p>
                      <a:r>
                        <a:rPr lang="en-US" dirty="0"/>
                        <a:t>1</a:t>
                      </a:r>
                      <a:endParaRPr lang="en-IN" dirty="0"/>
                    </a:p>
                  </a:txBody>
                  <a:tcPr/>
                </a:tc>
                <a:tc>
                  <a:txBody>
                    <a:bodyPr/>
                    <a:lstStyle/>
                    <a:p>
                      <a:r>
                        <a:rPr lang="en-IN" sz="1000" dirty="0"/>
                        <a:t>03-mar-2022,</a:t>
                      </a:r>
                    </a:p>
                    <a:p>
                      <a:r>
                        <a:rPr lang="en-IN" sz="1000" dirty="0"/>
                        <a:t>Ankush Singh, Ashish Yadav, Saloni Shah, Prof. Renuka </a:t>
                      </a:r>
                      <a:r>
                        <a:rPr lang="en-IN" sz="1000" dirty="0" err="1"/>
                        <a:t>Nagpure</a:t>
                      </a:r>
                      <a:endParaRPr lang="en-IN" sz="1000" dirty="0"/>
                    </a:p>
                  </a:txBody>
                  <a:tcPr/>
                </a:tc>
                <a:tc>
                  <a:txBody>
                    <a:bodyPr/>
                    <a:lstStyle/>
                    <a:p>
                      <a:r>
                        <a:rPr lang="en-US" sz="1200" dirty="0"/>
                        <a:t>To predict the multiple disease of the patients</a:t>
                      </a:r>
                      <a:endParaRPr lang="en-IN" sz="1200" dirty="0"/>
                    </a:p>
                  </a:txBody>
                  <a:tcPr/>
                </a:tc>
                <a:tc>
                  <a:txBody>
                    <a:bodyPr/>
                    <a:lstStyle/>
                    <a:p>
                      <a:r>
                        <a:rPr lang="en-IN" sz="1200" dirty="0"/>
                        <a:t>Multiple disease prediction system</a:t>
                      </a:r>
                    </a:p>
                  </a:txBody>
                  <a:tcPr/>
                </a:tc>
                <a:tc>
                  <a:txBody>
                    <a:bodyPr/>
                    <a:lstStyle/>
                    <a:p>
                      <a:r>
                        <a:rPr lang="en-US" sz="1200" dirty="0"/>
                        <a:t>the diseases can be predicted more </a:t>
                      </a:r>
                      <a:r>
                        <a:rPr lang="en-US" sz="1200" dirty="0" err="1"/>
                        <a:t>accuratly</a:t>
                      </a:r>
                      <a:endParaRPr lang="en-IN" sz="1200" dirty="0"/>
                    </a:p>
                  </a:txBody>
                  <a:tcPr/>
                </a:tc>
                <a:tc>
                  <a:txBody>
                    <a:bodyPr/>
                    <a:lstStyle/>
                    <a:p>
                      <a:r>
                        <a:rPr lang="en-US" sz="1200" dirty="0"/>
                        <a:t>execution time is </a:t>
                      </a:r>
                      <a:r>
                        <a:rPr lang="en-US" sz="1200" dirty="0" err="1"/>
                        <a:t>more,no</a:t>
                      </a:r>
                      <a:r>
                        <a:rPr lang="en-US" sz="1200" dirty="0"/>
                        <a:t> stability and limited dataset.</a:t>
                      </a:r>
                      <a:endParaRPr lang="en-IN" sz="1200" dirty="0"/>
                    </a:p>
                  </a:txBody>
                  <a:tcPr/>
                </a:tc>
                <a:extLst>
                  <a:ext uri="{0D108BD9-81ED-4DB2-BD59-A6C34878D82A}">
                    <a16:rowId xmlns:a16="http://schemas.microsoft.com/office/drawing/2014/main" val="3097843794"/>
                  </a:ext>
                </a:extLst>
              </a:tr>
              <a:tr h="1448938">
                <a:tc>
                  <a:txBody>
                    <a:bodyPr/>
                    <a:lstStyle/>
                    <a:p>
                      <a:r>
                        <a:rPr lang="en-US" dirty="0"/>
                        <a:t>2</a:t>
                      </a:r>
                      <a:endParaRPr lang="en-IN" dirty="0"/>
                    </a:p>
                  </a:txBody>
                  <a:tcPr/>
                </a:tc>
                <a:tc>
                  <a:txBody>
                    <a:bodyPr/>
                    <a:lstStyle/>
                    <a:p>
                      <a:r>
                        <a:rPr lang="en-IN" sz="1800" dirty="0"/>
                        <a:t> </a:t>
                      </a:r>
                      <a:r>
                        <a:rPr lang="en-IN" sz="1200" dirty="0" err="1"/>
                        <a:t>Meiquan</a:t>
                      </a:r>
                      <a:r>
                        <a:rPr lang="en-IN" sz="1200" dirty="0"/>
                        <a:t> </a:t>
                      </a:r>
                      <a:r>
                        <a:rPr lang="en-IN" sz="1200" dirty="0" err="1"/>
                        <a:t>Wang,Huiru</a:t>
                      </a:r>
                      <a:r>
                        <a:rPr lang="en-IN" sz="1200" dirty="0"/>
                        <a:t> </a:t>
                      </a:r>
                      <a:r>
                        <a:rPr lang="en-IN" sz="1200" dirty="0" err="1"/>
                        <a:t>Zhang,Haoyang</a:t>
                      </a:r>
                      <a:r>
                        <a:rPr lang="en-IN" sz="1200" dirty="0"/>
                        <a:t> </a:t>
                      </a:r>
                      <a:r>
                        <a:rPr lang="en-IN" sz="1200" dirty="0" err="1"/>
                        <a:t>Wu,Guangshun</a:t>
                      </a:r>
                      <a:r>
                        <a:rPr lang="en-IN" sz="1200" dirty="0"/>
                        <a:t> </a:t>
                      </a:r>
                      <a:r>
                        <a:rPr lang="en-IN" sz="1200" dirty="0" err="1"/>
                        <a:t>Li,Keke</a:t>
                      </a:r>
                      <a:r>
                        <a:rPr lang="en-IN" sz="1200" dirty="0"/>
                        <a:t> Gai ,30-05-2022</a:t>
                      </a:r>
                    </a:p>
                  </a:txBody>
                  <a:tcPr/>
                </a:tc>
                <a:tc>
                  <a:txBody>
                    <a:bodyPr/>
                    <a:lstStyle/>
                    <a:p>
                      <a:r>
                        <a:rPr lang="en-US" sz="1000" dirty="0"/>
                        <a:t>Aiming at the problems of centralized data management, low data trust and unclear data sharing authority</a:t>
                      </a:r>
                      <a:endParaRPr lang="en-IN" sz="1000" dirty="0"/>
                    </a:p>
                  </a:txBody>
                  <a:tcPr/>
                </a:tc>
                <a:tc>
                  <a:txBody>
                    <a:bodyPr/>
                    <a:lstStyle/>
                    <a:p>
                      <a:r>
                        <a:rPr lang="en-US" sz="1200" dirty="0"/>
                        <a:t>Blockchain-based Secure Medical Data Management and Disease Prediction</a:t>
                      </a:r>
                      <a:endParaRPr lang="en-IN" sz="1200" dirty="0"/>
                    </a:p>
                  </a:txBody>
                  <a:tcPr/>
                </a:tc>
                <a:tc>
                  <a:txBody>
                    <a:bodyPr/>
                    <a:lstStyle/>
                    <a:p>
                      <a:r>
                        <a:rPr lang="en-US" sz="1200" dirty="0"/>
                        <a:t>The data is easily shared to </a:t>
                      </a:r>
                      <a:r>
                        <a:rPr lang="en-US" sz="1200" dirty="0" err="1"/>
                        <a:t>paitent</a:t>
                      </a:r>
                      <a:r>
                        <a:rPr lang="en-US" sz="1200" dirty="0"/>
                        <a:t> to doctor</a:t>
                      </a:r>
                      <a:endParaRPr lang="en-IN" sz="1200" dirty="0"/>
                    </a:p>
                  </a:txBody>
                  <a:tcPr/>
                </a:tc>
                <a:tc>
                  <a:txBody>
                    <a:bodyPr/>
                    <a:lstStyle/>
                    <a:p>
                      <a:r>
                        <a:rPr lang="en-US" sz="1200" dirty="0"/>
                        <a:t>not so accurate, execution time is more</a:t>
                      </a:r>
                      <a:endParaRPr lang="en-IN" sz="1200" dirty="0"/>
                    </a:p>
                  </a:txBody>
                  <a:tcPr/>
                </a:tc>
                <a:extLst>
                  <a:ext uri="{0D108BD9-81ED-4DB2-BD59-A6C34878D82A}">
                    <a16:rowId xmlns:a16="http://schemas.microsoft.com/office/drawing/2014/main" val="3396774005"/>
                  </a:ext>
                </a:extLst>
              </a:tr>
              <a:tr h="841843">
                <a:tc>
                  <a:txBody>
                    <a:bodyPr/>
                    <a:lstStyle/>
                    <a:p>
                      <a:r>
                        <a:rPr lang="en-US" dirty="0"/>
                        <a:t>3</a:t>
                      </a:r>
                      <a:endParaRPr lang="en-IN" dirty="0"/>
                    </a:p>
                  </a:txBody>
                  <a:tcPr/>
                </a:tc>
                <a:tc>
                  <a:txBody>
                    <a:bodyPr/>
                    <a:lstStyle/>
                    <a:p>
                      <a:r>
                        <a:rPr lang="en-IN" sz="1200" dirty="0"/>
                        <a:t>C K Gomathy,</a:t>
                      </a:r>
                    </a:p>
                    <a:p>
                      <a:r>
                        <a:rPr lang="en-IN" sz="1200"/>
                        <a:t>Dec-2021</a:t>
                      </a:r>
                      <a:endParaRPr lang="en-IN" sz="1000" dirty="0"/>
                    </a:p>
                    <a:p>
                      <a:endParaRPr lang="en-IN" sz="10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00" dirty="0"/>
                        <a:t>The primary task of the project is to predict various diseases</a:t>
                      </a:r>
                      <a:endParaRPr lang="en-IN" sz="10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t>Disease </a:t>
                      </a:r>
                      <a:r>
                        <a:rPr lang="en-US" sz="1200" dirty="0" err="1"/>
                        <a:t>prediciton</a:t>
                      </a:r>
                      <a:r>
                        <a:rPr lang="en-US" sz="1200" dirty="0"/>
                        <a:t> system using machine learning</a:t>
                      </a:r>
                      <a:endParaRPr lang="en-IN" sz="12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t>The diseases can be predicted </a:t>
                      </a:r>
                      <a:r>
                        <a:rPr lang="en-US" sz="1200" dirty="0" err="1"/>
                        <a:t>accuretly</a:t>
                      </a:r>
                      <a:endParaRPr lang="en-IN" sz="12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t>limited data, execution time is more.</a:t>
                      </a:r>
                      <a:endParaRPr lang="en-IN" sz="1200" dirty="0"/>
                    </a:p>
                  </a:txBody>
                  <a:tcPr/>
                </a:tc>
                <a:extLst>
                  <a:ext uri="{0D108BD9-81ED-4DB2-BD59-A6C34878D82A}">
                    <a16:rowId xmlns:a16="http://schemas.microsoft.com/office/drawing/2014/main" val="715288033"/>
                  </a:ext>
                </a:extLst>
              </a:tr>
              <a:tr h="1493983">
                <a:tc>
                  <a:txBody>
                    <a:bodyPr/>
                    <a:lstStyle/>
                    <a:p>
                      <a:endParaRPr lang="en-IN" dirty="0"/>
                    </a:p>
                  </a:txBody>
                  <a:tcPr/>
                </a:tc>
                <a:tc>
                  <a:txBody>
                    <a:bodyPr/>
                    <a:lstStyle/>
                    <a:p>
                      <a:endParaRPr lang="en-IN" sz="1000" dirty="0"/>
                    </a:p>
                  </a:txBody>
                  <a:tcPr/>
                </a:tc>
                <a:tc>
                  <a:txBody>
                    <a:bodyPr/>
                    <a:lstStyle/>
                    <a:p>
                      <a:endParaRPr lang="en-IN" sz="1200" dirty="0"/>
                    </a:p>
                  </a:txBody>
                  <a:tcPr/>
                </a:tc>
                <a:tc>
                  <a:txBody>
                    <a:bodyPr/>
                    <a:lstStyle/>
                    <a:p>
                      <a:endParaRPr lang="en-IN" sz="1200" dirty="0"/>
                    </a:p>
                  </a:txBody>
                  <a:tcPr/>
                </a:tc>
                <a:tc>
                  <a:txBody>
                    <a:bodyPr/>
                    <a:lstStyle/>
                    <a:p>
                      <a:endParaRPr lang="en-IN" sz="1200" dirty="0"/>
                    </a:p>
                  </a:txBody>
                  <a:tcPr/>
                </a:tc>
                <a:tc>
                  <a:txBody>
                    <a:bodyPr/>
                    <a:lstStyle/>
                    <a:p>
                      <a:endParaRPr lang="en-IN" sz="1200" dirty="0"/>
                    </a:p>
                  </a:txBody>
                  <a:tcPr/>
                </a:tc>
                <a:extLst>
                  <a:ext uri="{0D108BD9-81ED-4DB2-BD59-A6C34878D82A}">
                    <a16:rowId xmlns:a16="http://schemas.microsoft.com/office/drawing/2014/main" val="376427978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7" name="CustomShape 1"/>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2" name="TextBox 1">
            <a:extLst>
              <a:ext uri="{FF2B5EF4-FFF2-40B4-BE49-F238E27FC236}">
                <a16:creationId xmlns:a16="http://schemas.microsoft.com/office/drawing/2014/main" id="{59A5D022-427A-88D3-3A03-ECE30DE17FC7}"/>
              </a:ext>
            </a:extLst>
          </p:cNvPr>
          <p:cNvSpPr txBox="1"/>
          <p:nvPr/>
        </p:nvSpPr>
        <p:spPr>
          <a:xfrm>
            <a:off x="76200" y="1104600"/>
            <a:ext cx="8991600" cy="4247317"/>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integrates IoT data collection, blockchain-based secure data management with smart contracts, and machine learning for disease prediction in healthcare.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three-tier architecture ensures real-time monitoring, data privacy, and secure access control.</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Transfer learning is used to improve disease prediction accuracy while protecting patient data security.</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project's focus is on early diagnosis of chronic diseases using an artificial intelligence approach.</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uses an artificial neural network (ANN) with particle swarm optimization (PSO) for feature extraction.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Among seven classification algorithms compared, the ANN model with PSO-based feature extraction achieves the highest accuracy at 99.67%.</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involves training the ANN model with PSO on chronic disease datasets and deploying it for early diagnosis in hospitals or online systems, offering an efficient and accurate disease prediction solution.</a:t>
            </a:r>
            <a:endParaRPr lang="en-IN" dirty="0"/>
          </a:p>
        </p:txBody>
      </p:sp>
    </p:spTree>
    <p:extLst>
      <p:ext uri="{BB962C8B-B14F-4D97-AF65-F5344CB8AC3E}">
        <p14:creationId xmlns:p14="http://schemas.microsoft.com/office/powerpoint/2010/main" val="1038465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1"/>
          <p:cNvSpPr/>
          <p:nvPr/>
        </p:nvSpPr>
        <p:spPr>
          <a:xfrm>
            <a:off x="457200" y="990600"/>
            <a:ext cx="8381160" cy="75600"/>
          </a:xfrm>
          <a:prstGeom prst="rect">
            <a:avLst/>
          </a:prstGeom>
          <a:solidFill>
            <a:srgbClr val="7030A0"/>
          </a:solidFill>
          <a:ln w="25560">
            <a:solidFill>
              <a:srgbClr val="3A5F8B"/>
            </a:solidFill>
            <a:round/>
          </a:ln>
        </p:spPr>
        <p:txBody>
          <a:bodyPr/>
          <a:lstStyle/>
          <a:p>
            <a:endParaRPr lang="en-IN"/>
          </a:p>
        </p:txBody>
      </p:sp>
      <p:sp>
        <p:nvSpPr>
          <p:cNvPr id="8" name="TextBox 7"/>
          <p:cNvSpPr txBox="1"/>
          <p:nvPr/>
        </p:nvSpPr>
        <p:spPr>
          <a:xfrm>
            <a:off x="457200" y="457200"/>
            <a:ext cx="3048000" cy="523220"/>
          </a:xfrm>
          <a:prstGeom prst="rect">
            <a:avLst/>
          </a:prstGeom>
          <a:noFill/>
        </p:spPr>
        <p:txBody>
          <a:bodyPr wrap="square" rtlCol="0">
            <a:spAutoFit/>
          </a:bodyPr>
          <a:lstStyle/>
          <a:p>
            <a:r>
              <a:rPr lang="en-US" sz="2800" b="1" dirty="0">
                <a:solidFill>
                  <a:srgbClr val="C00000"/>
                </a:solidFill>
                <a:latin typeface="+mj-lt"/>
              </a:rPr>
              <a:t>Result</a:t>
            </a:r>
          </a:p>
        </p:txBody>
      </p:sp>
      <p:sp>
        <p:nvSpPr>
          <p:cNvPr id="3" name="TextBox 2">
            <a:extLst>
              <a:ext uri="{FF2B5EF4-FFF2-40B4-BE49-F238E27FC236}">
                <a16:creationId xmlns:a16="http://schemas.microsoft.com/office/drawing/2014/main" id="{C1908946-53F2-F9AD-F598-8869664A4845}"/>
              </a:ext>
            </a:extLst>
          </p:cNvPr>
          <p:cNvSpPr txBox="1"/>
          <p:nvPr/>
        </p:nvSpPr>
        <p:spPr>
          <a:xfrm>
            <a:off x="402771" y="1028400"/>
            <a:ext cx="8381160" cy="378206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A notable healthcare trend involves integrating advanced AI systems in hospitals to assist in diagnosing potential ailments based on extensive medical data. AI serves as a valuable support tool for healthcare practitioners, enhancing their diagnostic capabilities.</a:t>
            </a:r>
          </a:p>
          <a:p>
            <a:pPr marL="342900" indent="-342900" algn="just">
              <a:lnSpc>
                <a:spcPct val="150000"/>
              </a:lnSpc>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 It's vital to emphasize that AI should augment, not replace, human expertise, with ethical considerations like data protection and bias reduction being critical. Responsible AI integration, coupled with ethical awareness and human validation of AI-generated predictions, is essential for achieving the goals of improving patient outcomes and delivering high-quality care.</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 name="CustomShape 2"/>
          <p:cNvSpPr/>
          <p:nvPr/>
        </p:nvSpPr>
        <p:spPr>
          <a:xfrm>
            <a:off x="457200" y="533400"/>
            <a:ext cx="8381160" cy="455760"/>
          </a:xfrm>
          <a:prstGeom prst="rect">
            <a:avLst/>
          </a:prstGeom>
        </p:spPr>
        <p:txBody>
          <a:bodyPr lIns="90000" tIns="45000" rIns="90000" bIns="45000"/>
          <a:lstStyle/>
          <a:p>
            <a:pPr>
              <a:lnSpc>
                <a:spcPct val="100000"/>
              </a:lnSpc>
            </a:pPr>
            <a:r>
              <a:rPr lang="en-IN" sz="3200" b="1" dirty="0">
                <a:solidFill>
                  <a:srgbClr val="C00000"/>
                </a:solidFill>
                <a:latin typeface="+mj-lt"/>
              </a:rPr>
              <a:t>Conclusion</a:t>
            </a:r>
            <a:endParaRPr sz="3200" dirty="0">
              <a:solidFill>
                <a:srgbClr val="C00000"/>
              </a:solidFill>
              <a:latin typeface="+mj-lt"/>
            </a:endParaRPr>
          </a:p>
        </p:txBody>
      </p:sp>
      <p:sp>
        <p:nvSpPr>
          <p:cNvPr id="3" name="TextBox 2">
            <a:extLst>
              <a:ext uri="{FF2B5EF4-FFF2-40B4-BE49-F238E27FC236}">
                <a16:creationId xmlns:a16="http://schemas.microsoft.com/office/drawing/2014/main" id="{2B7937A6-CE22-4826-6ED0-7435BA3D9EF4}"/>
              </a:ext>
            </a:extLst>
          </p:cNvPr>
          <p:cNvSpPr txBox="1"/>
          <p:nvPr/>
        </p:nvSpPr>
        <p:spPr>
          <a:xfrm>
            <a:off x="381420" y="1241571"/>
            <a:ext cx="8381160" cy="2264081"/>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sz="1600" dirty="0">
                <a:effectLst/>
                <a:latin typeface="Times New Roman" panose="02020603050405020304" pitchFamily="18" charset="0"/>
                <a:ea typeface="Times New Roman" panose="02020603050405020304" pitchFamily="18" charset="0"/>
              </a:rPr>
              <a:t>In conclusion, the integration of advanced AI in healthcare holds immense potential but faces challenges in data, security, communication, and diagnostic accuracy. It's vital to emphasize AI as a supportive tool, not a replacement for human expertise. Ethical concerns around transparency, accountability, and bias mitigation must be carefully addressed for the ethical and effective use of AI in healthcare, ultimately benefiting both patients and healthcare professionals.</a:t>
            </a:r>
            <a:endParaRPr lang="en-IN"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228600" y="9144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152400" y="304800"/>
            <a:ext cx="2819400" cy="1077218"/>
          </a:xfrm>
          <a:prstGeom prst="rect">
            <a:avLst/>
          </a:prstGeom>
          <a:noFill/>
        </p:spPr>
        <p:txBody>
          <a:bodyPr wrap="square" rtlCol="0">
            <a:spAutoFit/>
          </a:bodyPr>
          <a:lstStyle/>
          <a:p>
            <a:r>
              <a:rPr lang="en-IN" sz="3200" b="1" dirty="0">
                <a:solidFill>
                  <a:srgbClr val="C00000"/>
                </a:solidFill>
                <a:latin typeface="+mj-lt"/>
              </a:rPr>
              <a:t>References</a:t>
            </a:r>
            <a:endParaRPr lang="en-IN" sz="3200" dirty="0">
              <a:solidFill>
                <a:srgbClr val="C00000"/>
              </a:solidFill>
              <a:latin typeface="+mj-lt"/>
            </a:endParaRPr>
          </a:p>
          <a:p>
            <a:endParaRPr lang="en-US" sz="3200" dirty="0">
              <a:latin typeface="+mj-lt"/>
            </a:endParaRPr>
          </a:p>
        </p:txBody>
      </p:sp>
      <p:sp>
        <p:nvSpPr>
          <p:cNvPr id="2" name="TextBox 1">
            <a:extLst>
              <a:ext uri="{FF2B5EF4-FFF2-40B4-BE49-F238E27FC236}">
                <a16:creationId xmlns:a16="http://schemas.microsoft.com/office/drawing/2014/main" id="{973D85CC-5B4A-AAAE-4551-E5A466660206}"/>
              </a:ext>
            </a:extLst>
          </p:cNvPr>
          <p:cNvSpPr txBox="1"/>
          <p:nvPr/>
        </p:nvSpPr>
        <p:spPr>
          <a:xfrm>
            <a:off x="533400" y="1382018"/>
            <a:ext cx="7543800" cy="2118529"/>
          </a:xfrm>
          <a:prstGeom prst="rect">
            <a:avLst/>
          </a:prstGeom>
          <a:noFill/>
        </p:spPr>
        <p:txBody>
          <a:bodyPr wrap="square" rtlCol="0">
            <a:spAutoFit/>
          </a:bodyPr>
          <a:lstStyle/>
          <a:p>
            <a:pPr marL="342900" indent="-342900">
              <a:lnSpc>
                <a:spcPct val="150000"/>
              </a:lnSpc>
              <a:buAutoNum type="arabicParenR"/>
            </a:pPr>
            <a:r>
              <a:rPr lang="en-IN" dirty="0">
                <a:hlinkClick r:id="rId2"/>
              </a:rPr>
              <a:t>https://www.irjet.net/archives/V9/i3/IRJET-V9I3312.pdf</a:t>
            </a:r>
            <a:endParaRPr lang="en-IN" dirty="0"/>
          </a:p>
          <a:p>
            <a:pPr marL="342900" indent="-342900">
              <a:lnSpc>
                <a:spcPct val="150000"/>
              </a:lnSpc>
              <a:buAutoNum type="arabicParenR"/>
            </a:pPr>
            <a:r>
              <a:rPr lang="en-IN" dirty="0">
                <a:hlinkClick r:id="rId3"/>
              </a:rPr>
              <a:t>https://dl.acm.org/doi/abs/10.1145/3494106.3528678</a:t>
            </a:r>
            <a:endParaRPr lang="en-IN" dirty="0"/>
          </a:p>
          <a:p>
            <a:pPr marL="342900" indent="-342900">
              <a:lnSpc>
                <a:spcPct val="150000"/>
              </a:lnSpc>
              <a:buAutoNum type="arabicParenR"/>
            </a:pPr>
            <a:r>
              <a:rPr lang="en-IN" dirty="0">
                <a:hlinkClick r:id="rId4" action="ppaction://hlinkfile" tooltip="https://www.researchgate.net/publication/357449131_THE_PREDICTION_OF_DISEASE_USING_MACHINE_LEARNING/link/61cec769d4500608167cb669/download"/>
              </a:rPr>
              <a:t>https://www.researchgate.net/publication/357449131_THE_PREDICTION_OF_DISEASE_USING_MACHINE_LEARNING/link/61cec769d4500608167cb669/download</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10188</TotalTime>
  <Words>1370</Words>
  <Application>Microsoft Office PowerPoint</Application>
  <PresentationFormat>On-screen Show (4:3)</PresentationFormat>
  <Paragraphs>116</Paragraphs>
  <Slides>20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Black</vt:lpstr>
      <vt:lpstr>Bookman Old Style</vt:lpstr>
      <vt:lpstr>Calibri</vt:lpstr>
      <vt:lpstr>StarSymbol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erroju sidhartha</cp:lastModifiedBy>
  <cp:revision>724</cp:revision>
  <dcterms:modified xsi:type="dcterms:W3CDTF">2023-11-04T02:11:05Z</dcterms:modified>
</cp:coreProperties>
</file>